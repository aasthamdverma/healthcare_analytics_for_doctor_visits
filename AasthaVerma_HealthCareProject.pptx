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39" r:id="rId10"/>
    <p:sldId id="340" r:id="rId11"/>
    <p:sldId id="341" r:id="rId12"/>
    <p:sldId id="342" r:id="rId13"/>
    <p:sldId id="30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asthamdverma/Healthcare_Analytics_for_Doctor_Visit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aasthamdverma/Healthcare_Analytics_for_Doctor_Visit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aasthamdverma/Healthcare_Analytics_for_Doctor_Visit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asthamdverma/Healthcare_Analytics_for_Doctor_Visits"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973216" y="4141999"/>
            <a:ext cx="5243803" cy="861497"/>
          </a:xfrm>
        </p:spPr>
        <p:txBody>
          <a:bodyPr>
            <a:normAutofit/>
          </a:bodyPr>
          <a:lstStyle/>
          <a:p>
            <a:pPr algn="r"/>
            <a:r>
              <a:rPr lang="en-US" b="0" dirty="0">
                <a:solidFill>
                  <a:schemeClr val="tx1"/>
                </a:solidFill>
              </a:rPr>
              <a:t>[Student Name: VERMA AASTHA MADAN]</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033752" y="2600961"/>
            <a:ext cx="9277839" cy="193040"/>
          </a:xfrm>
        </p:spPr>
        <p:txBody>
          <a:bodyPr>
            <a:normAutofit fontScale="90000"/>
          </a:bodyPr>
          <a:lstStyle/>
          <a:p>
            <a:r>
              <a:rPr lang="en-GB" sz="3200" dirty="0"/>
              <a:t>Project Title – Healthcare Analytic For Doctor visit 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B1AED0D6-7357-3280-3F54-DEECFF97641E}"/>
              </a:ext>
            </a:extLst>
          </p:cNvPr>
          <p:cNvSpPr txBox="1"/>
          <p:nvPr/>
        </p:nvSpPr>
        <p:spPr>
          <a:xfrm rot="10800000" flipV="1">
            <a:off x="0" y="3618331"/>
            <a:ext cx="9153330" cy="369332"/>
          </a:xfrm>
          <a:prstGeom prst="rect">
            <a:avLst/>
          </a:prstGeom>
          <a:noFill/>
        </p:spPr>
        <p:txBody>
          <a:bodyPr wrap="square">
            <a:spAutoFit/>
          </a:bodyPr>
          <a:lstStyle/>
          <a:p>
            <a:r>
              <a:rPr lang="en-US" sz="1800" b="1" dirty="0"/>
              <a:t>                             AICTE STU ID :</a:t>
            </a:r>
            <a:r>
              <a:rPr lang="en-US" b="1" dirty="0"/>
              <a:t> STU6a64510b46cf11784959243</a:t>
            </a:r>
            <a:endParaRPr lang="en-US" sz="18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lstStyle/>
          <a:p>
            <a:pPr>
              <a:lnSpc>
                <a:spcPct val="100000"/>
              </a:lnSpc>
            </a:pPr>
            <a:r>
              <a:rPr lang="en-US" sz="2800" dirty="0"/>
              <a:t>The main objective is to analyze patient-related information and identify useful patterns in doctor visits. Students can compare age, health condition, illness, income, chronic conditions, and healthcare support with the number of visits.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51447"/>
            <a:ext cx="6276109" cy="830997"/>
          </a:xfrm>
        </p:spPr>
        <p:txBody>
          <a:bodyPr>
            <a:normAutofit fontScale="90000"/>
          </a:bodyPr>
          <a:lstStyle/>
          <a:p>
            <a:r>
              <a:rPr lang="en-GB" dirty="0"/>
              <a:t>Project Description</a:t>
            </a:r>
            <a:br>
              <a:rPr lang="en-GB" dirty="0"/>
            </a:br>
            <a:br>
              <a:rPr lang="en-IN" sz="1800" b="0" dirty="0"/>
            </a:br>
            <a:br>
              <a:rPr lang="en-GB" sz="2700" dirty="0"/>
            </a:br>
            <a:endParaRPr lang="en-IN" sz="27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1AF60D2B-2265-05DC-943A-2D581533850A}"/>
              </a:ext>
            </a:extLst>
          </p:cNvPr>
          <p:cNvSpPr txBox="1"/>
          <p:nvPr/>
        </p:nvSpPr>
        <p:spPr>
          <a:xfrm>
            <a:off x="675957" y="1184988"/>
            <a:ext cx="4997055" cy="4801314"/>
          </a:xfrm>
          <a:prstGeom prst="rect">
            <a:avLst/>
          </a:prstGeom>
          <a:noFill/>
        </p:spPr>
        <p:txBody>
          <a:bodyPr wrap="square" rtlCol="0">
            <a:spAutoFit/>
          </a:bodyPr>
          <a:lstStyle/>
          <a:p>
            <a:r>
              <a:rPr lang="en-IN" dirty="0"/>
              <a:t>The Doctor Visits Data Analysis project focuses on </a:t>
            </a:r>
            <a:r>
              <a:rPr lang="en-IN" dirty="0" err="1"/>
              <a:t>analyzing</a:t>
            </a:r>
            <a:r>
              <a:rPr lang="en-IN" dirty="0"/>
              <a:t> patterns in healthcare utilization using a dataset containing information about patients' demographic characteristics, health conditions, socioeconomic factors, and healthcare access. The project explores how factors such as age, gender, income, number of illnesses, health status, reduced activity, chronic conditions, and healthcare coverage are associated with doctor visits.</a:t>
            </a:r>
            <a:br>
              <a:rPr lang="en-IN" dirty="0"/>
            </a:br>
            <a:r>
              <a:rPr lang="en-IN" dirty="0"/>
              <a:t>Using Python, Pandas, NumPy, and Matplotlib, the dataset is cleaned, explored, and </a:t>
            </a:r>
            <a:r>
              <a:rPr lang="en-IN" dirty="0" err="1"/>
              <a:t>analyzed</a:t>
            </a:r>
            <a:r>
              <a:rPr lang="en-IN" dirty="0"/>
              <a:t> through exploratory data analysis (EDA). Various visualizations, including bar charts, line charts, scatter plots, and heatmaps, are used to identify important patterns and relationships.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lvl="0"/>
            <a:r>
              <a:rPr lang="en-IN" sz="3600" b="1" dirty="0"/>
              <a:t>Doctors and Healthcare Professionals</a:t>
            </a:r>
            <a:r>
              <a:rPr lang="en-IN" sz="3600" dirty="0"/>
              <a:t> – To understand patient visit patterns and health-related factors.</a:t>
            </a:r>
          </a:p>
          <a:p>
            <a:pPr lvl="0"/>
            <a:r>
              <a:rPr lang="en-IN" sz="3600" b="1" dirty="0"/>
              <a:t>Hospitals and Clinics</a:t>
            </a:r>
            <a:r>
              <a:rPr lang="en-IN" sz="3600" dirty="0"/>
              <a:t> – To plan staff, facilities, and healthcare resources.</a:t>
            </a:r>
          </a:p>
          <a:p>
            <a:pPr lvl="0"/>
            <a:r>
              <a:rPr lang="en-IN" sz="3600" b="1" dirty="0"/>
              <a:t>Researchers and Data Analysts</a:t>
            </a:r>
            <a:r>
              <a:rPr lang="en-IN" sz="3600" dirty="0"/>
              <a:t> – To study healthcare utilization and identify trends.</a:t>
            </a:r>
          </a:p>
          <a:p>
            <a:pPr lvl="0"/>
            <a:r>
              <a:rPr lang="en-IN" sz="3600" b="1" dirty="0"/>
              <a:t>Government and Public Health Departments</a:t>
            </a:r>
            <a:r>
              <a:rPr lang="en-IN" sz="3600" dirty="0"/>
              <a:t> – To support healthcare planning and policy development.</a:t>
            </a:r>
          </a:p>
          <a:p>
            <a:pPr marL="0" indent="0">
              <a:buNone/>
            </a:pPr>
            <a:endParaRPr lang="en-IN" sz="3600" dirty="0"/>
          </a:p>
          <a:p>
            <a:r>
              <a:rPr lang="en-IN" sz="3600" b="1" dirty="0"/>
              <a:t>End Users:</a:t>
            </a:r>
            <a:r>
              <a:rPr lang="en-IN" sz="3600" dirty="0"/>
              <a:t> Doctors, hospitals, healthcare planners, researchers, data analysts, and government/public health departments.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70180" y="1432560"/>
            <a:ext cx="7748140" cy="4324428"/>
          </a:xfrm>
        </p:spPr>
        <p:txBody>
          <a:bodyPr>
            <a:normAutofit/>
          </a:bodyPr>
          <a:lstStyle/>
          <a:p>
            <a:pPr lvl="0"/>
            <a:r>
              <a:rPr lang="en-IN" b="1" dirty="0"/>
              <a:t>Python</a:t>
            </a:r>
            <a:r>
              <a:rPr lang="en-IN" dirty="0"/>
              <a:t> – Programming and data analysis</a:t>
            </a:r>
          </a:p>
          <a:p>
            <a:pPr lvl="0"/>
            <a:r>
              <a:rPr lang="en-IN" b="1" dirty="0"/>
              <a:t>Pandas</a:t>
            </a:r>
            <a:r>
              <a:rPr lang="en-IN" dirty="0"/>
              <a:t> – Data cleaning and data manipulation</a:t>
            </a:r>
          </a:p>
          <a:p>
            <a:pPr lvl="0"/>
            <a:r>
              <a:rPr lang="en-IN" b="1" dirty="0"/>
              <a:t>NumPy</a:t>
            </a:r>
            <a:r>
              <a:rPr lang="en-IN" dirty="0"/>
              <a:t> – Numerical calculations</a:t>
            </a:r>
          </a:p>
          <a:p>
            <a:pPr lvl="0"/>
            <a:r>
              <a:rPr lang="en-IN" b="1" dirty="0"/>
              <a:t>Matplotlib</a:t>
            </a:r>
            <a:r>
              <a:rPr lang="en-IN" dirty="0"/>
              <a:t> – Creating graphs and charts</a:t>
            </a:r>
          </a:p>
          <a:p>
            <a:pPr lvl="0"/>
            <a:r>
              <a:rPr lang="en-IN" b="1" dirty="0"/>
              <a:t>Seaborn</a:t>
            </a:r>
            <a:r>
              <a:rPr lang="en-IN" dirty="0"/>
              <a:t> – Data visualization and statistical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fontScale="7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t>GitHub Repository</a:t>
            </a:r>
          </a:p>
          <a:p>
            <a:r>
              <a:rPr lang="en-US" sz="2800" dirty="0">
                <a:hlinkClick r:id="rId3"/>
              </a:rPr>
              <a:t>🔗 View Project on GitHub</a:t>
            </a:r>
            <a:endParaRPr lang="en-IN" sz="2800" dirty="0"/>
          </a:p>
          <a:p>
            <a:endParaRPr lang="en-IN" sz="2800"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CB96AFCF-E8E8-9D7C-D73E-9BFF74FFA6FD}"/>
              </a:ext>
            </a:extLst>
          </p:cNvPr>
          <p:cNvPicPr>
            <a:picLocks noChangeAspect="1"/>
          </p:cNvPicPr>
          <p:nvPr/>
        </p:nvPicPr>
        <p:blipFill>
          <a:blip r:embed="rId4"/>
          <a:stretch>
            <a:fillRect/>
          </a:stretch>
        </p:blipFill>
        <p:spPr>
          <a:xfrm>
            <a:off x="171450" y="1275371"/>
            <a:ext cx="5924550" cy="4476750"/>
          </a:xfrm>
          <a:prstGeom prst="rect">
            <a:avLst/>
          </a:prstGeom>
        </p:spPr>
      </p:pic>
      <p:pic>
        <p:nvPicPr>
          <p:cNvPr id="12" name="Picture 11">
            <a:extLst>
              <a:ext uri="{FF2B5EF4-FFF2-40B4-BE49-F238E27FC236}">
                <a16:creationId xmlns:a16="http://schemas.microsoft.com/office/drawing/2014/main" id="{16E0F395-25A9-0529-DB7D-A18A464B42B3}"/>
              </a:ext>
            </a:extLst>
          </p:cNvPr>
          <p:cNvPicPr>
            <a:picLocks noChangeAspect="1"/>
          </p:cNvPicPr>
          <p:nvPr/>
        </p:nvPicPr>
        <p:blipFill>
          <a:blip r:embed="rId5"/>
          <a:stretch>
            <a:fillRect/>
          </a:stretch>
        </p:blipFill>
        <p:spPr>
          <a:xfrm>
            <a:off x="6096000" y="1436358"/>
            <a:ext cx="5924550" cy="447675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12EC7-2780-EFA2-983E-2A74BB0FE99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89B0AB-42C5-C3E8-2245-FAC4FB6B48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2A0F99-969E-DA1E-2C98-A06205AFA10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4A42C13-EB58-1694-DADF-256AE1E68CB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E82E74B-4CFE-0C05-7639-08CB66F138F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C3E7BBB-21D1-6C6F-8044-2302068793B7}"/>
              </a:ext>
            </a:extLst>
          </p:cNvPr>
          <p:cNvSpPr txBox="1">
            <a:spLocks/>
          </p:cNvSpPr>
          <p:nvPr/>
        </p:nvSpPr>
        <p:spPr>
          <a:xfrm>
            <a:off x="422959" y="5737443"/>
            <a:ext cx="2981643" cy="830997"/>
          </a:xfrm>
          <a:prstGeom prst="rect">
            <a:avLst/>
          </a:prstGeom>
        </p:spPr>
        <p:txBody>
          <a:bodyPr vert="horz" lIns="91440" tIns="45720" rIns="91440" bIns="45720" rtlCol="0" anchor="t">
            <a:normAutofit fontScale="4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GitHub Repository</a:t>
            </a:r>
          </a:p>
          <a:p>
            <a:r>
              <a:rPr lang="en-US" dirty="0">
                <a:hlinkClick r:id="rId3"/>
              </a:rPr>
              <a:t>🔗 View Project on GitHub</a:t>
            </a:r>
            <a:endParaRPr lang="en-IN" dirty="0"/>
          </a:p>
          <a:p>
            <a:endParaRPr lang="en-IN" b="0" u="sng" dirty="0">
              <a:solidFill>
                <a:srgbClr val="0070C0"/>
              </a:solidFill>
            </a:endParaRPr>
          </a:p>
        </p:txBody>
      </p:sp>
      <p:sp>
        <p:nvSpPr>
          <p:cNvPr id="10" name="Text Placeholder 1">
            <a:extLst>
              <a:ext uri="{FF2B5EF4-FFF2-40B4-BE49-F238E27FC236}">
                <a16:creationId xmlns:a16="http://schemas.microsoft.com/office/drawing/2014/main" id="{3B5C9C39-CFC6-53C7-9C47-B2F26335566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B8700DDC-9DDB-D19F-8506-61E29270CACF}"/>
              </a:ext>
            </a:extLst>
          </p:cNvPr>
          <p:cNvPicPr>
            <a:picLocks noChangeAspect="1"/>
          </p:cNvPicPr>
          <p:nvPr/>
        </p:nvPicPr>
        <p:blipFill>
          <a:blip r:embed="rId4"/>
          <a:stretch>
            <a:fillRect/>
          </a:stretch>
        </p:blipFill>
        <p:spPr>
          <a:xfrm>
            <a:off x="422959" y="1105879"/>
            <a:ext cx="6581775" cy="4476750"/>
          </a:xfrm>
          <a:prstGeom prst="rect">
            <a:avLst/>
          </a:prstGeom>
        </p:spPr>
      </p:pic>
    </p:spTree>
    <p:extLst>
      <p:ext uri="{BB962C8B-B14F-4D97-AF65-F5344CB8AC3E}">
        <p14:creationId xmlns:p14="http://schemas.microsoft.com/office/powerpoint/2010/main" val="3945377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63AD4-4CB4-B774-EDE1-6F007DFD41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7E0A62-A0E0-08A4-E364-4B2ED025C0B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65EB559-4A3B-51BB-0B75-93EE569D00B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A7DA022-94D9-D0EB-2A28-ADB71606BBE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AB6F5A9-9D21-BB54-2525-3BCA7C77189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D0F57529-579D-A126-210D-CF9467F8B48F}"/>
              </a:ext>
            </a:extLst>
          </p:cNvPr>
          <p:cNvSpPr txBox="1">
            <a:spLocks/>
          </p:cNvSpPr>
          <p:nvPr/>
        </p:nvSpPr>
        <p:spPr>
          <a:xfrm>
            <a:off x="422959" y="5737443"/>
            <a:ext cx="2981643" cy="830997"/>
          </a:xfrm>
          <a:prstGeom prst="rect">
            <a:avLst/>
          </a:prstGeom>
        </p:spPr>
        <p:txBody>
          <a:bodyPr vert="horz" lIns="91440" tIns="45720" rIns="91440" bIns="45720" rtlCol="0" anchor="t">
            <a:normAutofit fontScale="40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US" dirty="0"/>
              <a:t>GitHub Repository</a:t>
            </a:r>
          </a:p>
          <a:p>
            <a:r>
              <a:rPr lang="en-US" dirty="0">
                <a:hlinkClick r:id="rId3"/>
              </a:rPr>
              <a:t>🔗 View Project on GitHub</a:t>
            </a:r>
            <a:endParaRPr lang="en-IN" dirty="0"/>
          </a:p>
          <a:p>
            <a:endParaRPr lang="en-IN" b="0" u="sng" dirty="0">
              <a:solidFill>
                <a:srgbClr val="0070C0"/>
              </a:solidFill>
            </a:endParaRPr>
          </a:p>
        </p:txBody>
      </p:sp>
      <p:sp>
        <p:nvSpPr>
          <p:cNvPr id="10" name="Text Placeholder 1">
            <a:extLst>
              <a:ext uri="{FF2B5EF4-FFF2-40B4-BE49-F238E27FC236}">
                <a16:creationId xmlns:a16="http://schemas.microsoft.com/office/drawing/2014/main" id="{EA7014E7-B737-096C-4A64-FF29591A5686}"/>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1EA41731-9CE2-8C42-BA09-0E067E331768}"/>
              </a:ext>
            </a:extLst>
          </p:cNvPr>
          <p:cNvPicPr>
            <a:picLocks noChangeAspect="1"/>
          </p:cNvPicPr>
          <p:nvPr/>
        </p:nvPicPr>
        <p:blipFill>
          <a:blip r:embed="rId4"/>
          <a:stretch>
            <a:fillRect/>
          </a:stretch>
        </p:blipFill>
        <p:spPr>
          <a:xfrm>
            <a:off x="573320" y="1085984"/>
            <a:ext cx="7391400" cy="4686031"/>
          </a:xfrm>
          <a:prstGeom prst="rect">
            <a:avLst/>
          </a:prstGeom>
        </p:spPr>
      </p:pic>
    </p:spTree>
    <p:extLst>
      <p:ext uri="{BB962C8B-B14F-4D97-AF65-F5344CB8AC3E}">
        <p14:creationId xmlns:p14="http://schemas.microsoft.com/office/powerpoint/2010/main" val="2527030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BD706-5481-DC90-133F-B301072266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8E0429B-2A05-C883-D531-2EE28C04DB0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6CD51F1-9A0E-1CF8-D715-A3EBCB1BC43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40DEDF4-5174-7832-7E4E-41B8340FF5C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D4E7CE8-2D52-C02B-5D2C-F1F135EC2F4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67AE479-5938-27B7-12EA-B7A3D592173A}"/>
              </a:ext>
            </a:extLst>
          </p:cNvPr>
          <p:cNvSpPr txBox="1">
            <a:spLocks/>
          </p:cNvSpPr>
          <p:nvPr/>
        </p:nvSpPr>
        <p:spPr>
          <a:xfrm>
            <a:off x="550506" y="5902362"/>
            <a:ext cx="2854096" cy="666078"/>
          </a:xfrm>
          <a:prstGeom prst="rect">
            <a:avLst/>
          </a:prstGeom>
        </p:spPr>
        <p:txBody>
          <a:bodyPr vert="horz" lIns="91440" tIns="45720" rIns="91440" bIns="45720" rtlCol="0" anchor="t">
            <a:normAutofit fontScale="325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GitHub Repository</a:t>
            </a:r>
          </a:p>
          <a:p>
            <a:r>
              <a:rPr lang="en-US" dirty="0">
                <a:hlinkClick r:id="rId3"/>
              </a:rPr>
              <a:t>🔗 View Project on GitHub</a:t>
            </a:r>
            <a:endParaRPr lang="en-IN" dirty="0"/>
          </a:p>
          <a:p>
            <a:endParaRPr lang="en-IN" b="0" u="sng" dirty="0">
              <a:solidFill>
                <a:srgbClr val="0070C0"/>
              </a:solidFill>
            </a:endParaRPr>
          </a:p>
        </p:txBody>
      </p:sp>
      <p:sp>
        <p:nvSpPr>
          <p:cNvPr id="10" name="Text Placeholder 1">
            <a:extLst>
              <a:ext uri="{FF2B5EF4-FFF2-40B4-BE49-F238E27FC236}">
                <a16:creationId xmlns:a16="http://schemas.microsoft.com/office/drawing/2014/main" id="{001CA93D-7036-5944-2C66-0F3B346FF55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5AAF9DAC-05E0-EC09-405A-C24392C65479}"/>
              </a:ext>
            </a:extLst>
          </p:cNvPr>
          <p:cNvPicPr>
            <a:picLocks noChangeAspect="1"/>
          </p:cNvPicPr>
          <p:nvPr/>
        </p:nvPicPr>
        <p:blipFill>
          <a:blip r:embed="rId4"/>
          <a:stretch>
            <a:fillRect/>
          </a:stretch>
        </p:blipFill>
        <p:spPr>
          <a:xfrm>
            <a:off x="714231" y="1105879"/>
            <a:ext cx="6581775" cy="4476750"/>
          </a:xfrm>
          <a:prstGeom prst="rect">
            <a:avLst/>
          </a:prstGeom>
        </p:spPr>
      </p:pic>
    </p:spTree>
    <p:extLst>
      <p:ext uri="{BB962C8B-B14F-4D97-AF65-F5344CB8AC3E}">
        <p14:creationId xmlns:p14="http://schemas.microsoft.com/office/powerpoint/2010/main" val="33713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711</TotalTime>
  <Words>376</Words>
  <Application>Microsoft Office PowerPoint</Application>
  <PresentationFormat>Widescreen</PresentationFormat>
  <Paragraphs>40</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Trebuchet MS</vt:lpstr>
      <vt:lpstr>Wingdings</vt:lpstr>
      <vt:lpstr>Wingdings 3</vt:lpstr>
      <vt:lpstr>Facet</vt:lpstr>
      <vt:lpstr>Project Title – Healthcare Analytic For Doctor visit TIRTC</vt:lpstr>
      <vt:lpstr>PROBLEM  STATEMENT</vt:lpstr>
      <vt:lpstr>Project Description   </vt:lpstr>
      <vt:lpstr>WHO ARE THE END USERS?</vt:lpstr>
      <vt:lpstr>Technology Used</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Aastha Verma</cp:lastModifiedBy>
  <cp:revision>79</cp:revision>
  <dcterms:created xsi:type="dcterms:W3CDTF">2021-07-11T13:13:15Z</dcterms:created>
  <dcterms:modified xsi:type="dcterms:W3CDTF">2026-10-07T20:51:45Z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